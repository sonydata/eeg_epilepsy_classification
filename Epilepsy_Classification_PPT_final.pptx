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002F3F-0F11-4EF5-BBF9-01E0E7E1CFE2}">
  <a:tblStyle styleId="{DE002F3F-0F11-4EF5-BBF9-01E0E7E1CF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Sauter cette slide</a:t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a49bb1b9c_3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Dernière phrase: </a:t>
            </a:r>
            <a:r>
              <a:rPr lang="en-US" sz="1150">
                <a:solidFill>
                  <a:schemeClr val="dk1"/>
                </a:solidFill>
              </a:rPr>
              <a:t>Pour remédier à cela (ce problème)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4a49bb1b9c_3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a49bb1b9c_3_9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Dernière phrase: le tout mis à disposition dans 1 app web dédiée aux professionels de santé</a:t>
            </a:r>
            <a:endParaRPr sz="1100"/>
          </a:p>
        </p:txBody>
      </p:sp>
      <p:sp>
        <p:nvSpPr>
          <p:cNvPr id="92" name="Google Shape;92;g34a49bb1b9c_3_9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a49bb1b9c_4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a49bb1b9c_4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a5d3ff7db_0_5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a5d3ff7db_0_5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@Morgan: tu peux changer de slide lorsque j’ai fini de dire “dans le but d’améliorer les métriques” ;)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a51590f0e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a51590f0e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@Morgan : changer de slide après que je parle de Matrice de corrélations entre les différents canaux.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a5d3ff7db_0_5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a5d3ff7db_0_5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@Morgan : changer de slide après la passe à ElMedhi ;)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Dans ce projet, nous avons développé un système d’IA capable d’analyser des signaux EEG pour aider à détecter l’épilepsie. Grâce à un traitement rigoureux des données et des tests sur plusieurs patients, nos modèles montrent des résultats prometteurs. Cette approche pourrait, à terme, faciliter un diagnostic plus rapide et plus fiable.</a:t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a49bb1b9c_3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4a49bb1b9c_3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a5d3ff7db_0_7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ACNS: American Clinical Neurophysiology Society </a:t>
            </a:r>
            <a:endParaRPr/>
          </a:p>
        </p:txBody>
      </p:sp>
      <p:sp>
        <p:nvSpPr>
          <p:cNvPr id="241" name="Google Shape;241;g34a5d3ff7db_0_7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a49bb1b9c_3_10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4a49bb1b9c_3_10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a49bb1b9c_3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4a49bb1b9c_3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a5d3ff7db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4a5d3ff7db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35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2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Relationship Id="rId1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55;p13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56;p13"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49" y="787375"/>
            <a:ext cx="973276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10348" y="4642500"/>
            <a:ext cx="4482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Medium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Eli, Morgan, Robin, Sonia, Zacharie</a:t>
            </a:r>
            <a:endParaRPr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84345" y="47008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619542"/>
            <a:ext cx="9144001" cy="190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1192664" y="403308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Sommaire 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906500" y="1132127"/>
            <a:ext cx="7533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 Medium"/>
              <a:buNone/>
            </a:pPr>
            <a:r>
              <a:rPr b="1" lang="en-US" sz="1600"/>
              <a:t>I) Contextualisation</a:t>
            </a:r>
            <a:endParaRPr b="1" sz="1600"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 Medium"/>
              <a:buNone/>
            </a:pPr>
            <a:r>
              <a:rPr i="1" lang="en-US" sz="1300">
                <a:solidFill>
                  <a:srgbClr val="4B5258"/>
                </a:solidFill>
              </a:rPr>
              <a:t>-Problématique</a:t>
            </a:r>
            <a:r>
              <a:rPr i="1" lang="en-US" sz="1300" u="none" cap="none" strike="noStrike">
                <a:solidFill>
                  <a:srgbClr val="4B5258"/>
                </a:solidFill>
              </a:rPr>
              <a:t> / </a:t>
            </a:r>
            <a:r>
              <a:rPr i="1" lang="en-US" sz="1300">
                <a:solidFill>
                  <a:srgbClr val="4B5258"/>
                </a:solidFill>
              </a:rPr>
              <a:t>notre</a:t>
            </a:r>
            <a:r>
              <a:rPr i="1" lang="en-US" sz="1300" u="none" cap="none" strike="noStrike">
                <a:solidFill>
                  <a:srgbClr val="4B5258"/>
                </a:solidFill>
              </a:rPr>
              <a:t> solution</a:t>
            </a:r>
            <a:endParaRPr i="1" sz="1300"/>
          </a:p>
        </p:txBody>
      </p:sp>
      <p:sp>
        <p:nvSpPr>
          <p:cNvPr id="65" name="Google Shape;65;p14"/>
          <p:cNvSpPr txBox="1"/>
          <p:nvPr/>
        </p:nvSpPr>
        <p:spPr>
          <a:xfrm>
            <a:off x="906209" y="3054291"/>
            <a:ext cx="7534547" cy="5331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4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ct val="100000"/>
              <a:buFont typeface="Inter Medium"/>
              <a:buNone/>
            </a:pPr>
            <a:r>
              <a:t/>
            </a: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ct val="100000"/>
              <a:buFont typeface="Inter Medium"/>
              <a:buNone/>
            </a:pPr>
            <a:r>
              <a:t/>
            </a: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ct val="100000"/>
              <a:buFont typeface="Inter Medium"/>
              <a:buNone/>
            </a:pPr>
            <a:r>
              <a:t/>
            </a: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ct val="100000"/>
              <a:buFont typeface="Inter Medium"/>
              <a:buNone/>
            </a:pPr>
            <a:r>
              <a:t/>
            </a: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ct val="100000"/>
              <a:buFont typeface="Inter Medium"/>
              <a:buNone/>
            </a:pPr>
            <a:r>
              <a:t/>
            </a: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906200" y="2640175"/>
            <a:ext cx="70182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800"/>
              <a:buFont typeface="Inter Medium"/>
              <a:buNone/>
            </a:pPr>
            <a:r>
              <a:rPr b="1" lang="en-US" sz="1600">
                <a:solidFill>
                  <a:schemeClr val="dk1"/>
                </a:solidFill>
              </a:rPr>
              <a:t>III) Méthodologie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800"/>
              <a:buFont typeface="Inter Medium"/>
              <a:buNone/>
            </a:pPr>
            <a:r>
              <a:rPr i="1" lang="en-US" sz="1300">
                <a:solidFill>
                  <a:srgbClr val="4B5258"/>
                </a:solidFill>
              </a:rPr>
              <a:t>-</a:t>
            </a:r>
            <a:r>
              <a:rPr i="1" lang="en-US" sz="1300" u="none" cap="none" strike="noStrike">
                <a:solidFill>
                  <a:srgbClr val="4B5258"/>
                </a:solidFill>
              </a:rPr>
              <a:t>Preprocessing commun aux différentes méthodes d’analyse</a:t>
            </a:r>
            <a:r>
              <a:rPr i="1" lang="en-US" sz="1300">
                <a:solidFill>
                  <a:srgbClr val="4B5258"/>
                </a:solidFill>
              </a:rPr>
              <a:t>s et Modèles de classification</a:t>
            </a:r>
            <a:endParaRPr i="1"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800"/>
              <a:buFont typeface="Inter Medium"/>
              <a:buNone/>
            </a:pPr>
            <a:r>
              <a:t/>
            </a:r>
            <a:endParaRPr i="1" sz="1300"/>
          </a:p>
        </p:txBody>
      </p:sp>
      <p:pic>
        <p:nvPicPr>
          <p:cNvPr descr="Google Shape;75;p15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0" y="4900841"/>
            <a:ext cx="9144001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906200" y="1872975"/>
            <a:ext cx="8184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1600"/>
              <a:buFont typeface="Inter Medium"/>
              <a:buNone/>
            </a:pPr>
            <a:r>
              <a:rPr b="1" lang="en-US" sz="1600">
                <a:solidFill>
                  <a:schemeClr val="dk1"/>
                </a:solidFill>
              </a:rPr>
              <a:t>II) Démonstration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1600"/>
              <a:buFont typeface="Inter Medium"/>
              <a:buNone/>
            </a:pPr>
            <a:r>
              <a:rPr i="1" lang="en-US" sz="1300">
                <a:solidFill>
                  <a:srgbClr val="4B5258"/>
                </a:solidFill>
              </a:rPr>
              <a:t>-</a:t>
            </a:r>
            <a:r>
              <a:rPr i="1" lang="en-US" sz="1300" u="none" cap="none" strike="noStrike">
                <a:solidFill>
                  <a:srgbClr val="4B5258"/>
                </a:solidFill>
              </a:rPr>
              <a:t>Application en ligne </a:t>
            </a:r>
            <a:endParaRPr i="1" sz="1300"/>
          </a:p>
        </p:txBody>
      </p:sp>
      <p:sp>
        <p:nvSpPr>
          <p:cNvPr id="70" name="Google Shape;70;p14"/>
          <p:cNvSpPr txBox="1"/>
          <p:nvPr/>
        </p:nvSpPr>
        <p:spPr>
          <a:xfrm>
            <a:off x="906209" y="4090040"/>
            <a:ext cx="75345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 Medium"/>
              <a:buNone/>
            </a:pPr>
            <a:r>
              <a:rPr b="1" lang="en-US" sz="1600"/>
              <a:t>V) </a:t>
            </a:r>
            <a:r>
              <a:rPr b="1" i="0" lang="en-US" sz="1600" u="none" cap="none" strike="noStrike"/>
              <a:t>Conclusion et </a:t>
            </a:r>
            <a:r>
              <a:rPr b="1" lang="en-US" sz="1600"/>
              <a:t>p</a:t>
            </a:r>
            <a:r>
              <a:rPr b="1" i="0" lang="en-US" sz="1600" u="none" cap="none" strike="noStrike"/>
              <a:t>erspectives d</a:t>
            </a:r>
            <a:r>
              <a:rPr b="1" lang="en-US" sz="1600"/>
              <a:t>’améliorations</a:t>
            </a:r>
            <a:endParaRPr b="1" sz="1000"/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906500" y="3357175"/>
            <a:ext cx="61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800"/>
              <a:buFont typeface="Inter Medium"/>
              <a:buNone/>
            </a:pPr>
            <a:r>
              <a:rPr b="1" lang="en-US" sz="1600"/>
              <a:t>IV) </a:t>
            </a:r>
            <a:r>
              <a:rPr b="1" lang="en-US" sz="1600"/>
              <a:t>Résultats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858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906200" y="3656000"/>
            <a:ext cx="564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585858"/>
                </a:solidFill>
              </a:rPr>
              <a:t>-Tableau comparatif performances </a:t>
            </a:r>
            <a:endParaRPr i="1" sz="130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1116475" y="403300"/>
            <a:ext cx="84168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L'épilepsie : un diagnostic difficile à établir</a:t>
            </a:r>
            <a:endParaRPr i="1" sz="2250"/>
          </a:p>
        </p:txBody>
      </p:sp>
      <p:sp>
        <p:nvSpPr>
          <p:cNvPr id="79" name="Google Shape;79;p15"/>
          <p:cNvSpPr/>
          <p:nvPr/>
        </p:nvSpPr>
        <p:spPr>
          <a:xfrm rot="-460397">
            <a:off x="240247" y="167804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44300" y="146256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F1F1F"/>
                </a:solidFill>
              </a:rPr>
              <a:t>50 millions</a:t>
            </a:r>
            <a:r>
              <a:rPr lang="en-US" sz="1600">
                <a:solidFill>
                  <a:srgbClr val="1F1F1F"/>
                </a:solidFill>
              </a:rPr>
              <a:t> de personnes touchées – des diagnostics encore trop lents.</a:t>
            </a:r>
            <a:endParaRPr sz="1600">
              <a:solidFill>
                <a:srgbClr val="1F1F1F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 rot="-460397">
            <a:off x="240247" y="254844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 rot="-460397">
            <a:off x="240247" y="327654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75;p15" id="83" name="Google Shape;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44300" y="2999250"/>
            <a:ext cx="53151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EEG </a:t>
            </a:r>
            <a:r>
              <a:rPr b="1" lang="en-US" sz="1600">
                <a:solidFill>
                  <a:srgbClr val="1F1F1F"/>
                </a:solidFill>
              </a:rPr>
              <a:t>long et complex </a:t>
            </a:r>
            <a:r>
              <a:rPr lang="en-US" sz="1600">
                <a:solidFill>
                  <a:srgbClr val="1F1F1F"/>
                </a:solidFill>
              </a:rPr>
              <a:t>à analyser, spécialistes rares, accès inégal. </a:t>
            </a:r>
            <a:endParaRPr sz="1600">
              <a:solidFill>
                <a:srgbClr val="1F1F1F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44293" y="2346972"/>
            <a:ext cx="5772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600">
                <a:solidFill>
                  <a:srgbClr val="1F1F1F"/>
                </a:solidFill>
              </a:rPr>
              <a:t>Diagnostic par </a:t>
            </a:r>
            <a:r>
              <a:rPr b="1" lang="en-US" sz="1600">
                <a:solidFill>
                  <a:srgbClr val="1F1F1F"/>
                </a:solidFill>
              </a:rPr>
              <a:t>EE</a:t>
            </a:r>
            <a:r>
              <a:rPr b="1" lang="en-US" sz="1600">
                <a:solidFill>
                  <a:srgbClr val="1F1F1F"/>
                </a:solidFill>
              </a:rPr>
              <a:t>G</a:t>
            </a:r>
            <a:r>
              <a:rPr lang="en-US" sz="1600">
                <a:solidFill>
                  <a:srgbClr val="1F1F1F"/>
                </a:solidFill>
              </a:rPr>
              <a:t> (</a:t>
            </a:r>
            <a:r>
              <a:rPr lang="en-US" sz="1500">
                <a:solidFill>
                  <a:srgbClr val="1F1F1F"/>
                </a:solidFill>
                <a:highlight>
                  <a:srgbClr val="FFFFFF"/>
                </a:highlight>
              </a:rPr>
              <a:t>électroencéphalogramme)</a:t>
            </a:r>
            <a:r>
              <a:rPr lang="en-US" sz="1600">
                <a:solidFill>
                  <a:srgbClr val="1F1F1F"/>
                </a:solidFill>
              </a:rPr>
              <a:t>.</a:t>
            </a:r>
            <a:endParaRPr sz="1600">
              <a:solidFill>
                <a:srgbClr val="1F1F1F"/>
              </a:solidFill>
            </a:endParaRPr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15" title="Screen Shot 2025-04-11 at 1.35.03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6550" y="1330650"/>
            <a:ext cx="3697375" cy="26819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163150" y="3936350"/>
            <a:ext cx="640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80000"/>
                </a:solidFill>
              </a:rPr>
              <a:t>⚠️ </a:t>
            </a:r>
            <a:r>
              <a:rPr b="1" lang="en-US" sz="1600">
                <a:solidFill>
                  <a:srgbClr val="980000"/>
                </a:solidFill>
              </a:rPr>
              <a:t>Risque</a:t>
            </a:r>
            <a:r>
              <a:rPr lang="en-US" sz="1600">
                <a:solidFill>
                  <a:srgbClr val="980000"/>
                </a:solidFill>
              </a:rPr>
              <a:t>: retard de traitement </a:t>
            </a:r>
            <a:r>
              <a:rPr lang="en-US" sz="1600">
                <a:solidFill>
                  <a:srgbClr val="980000"/>
                </a:solidFill>
              </a:rPr>
              <a:t>=</a:t>
            </a:r>
            <a:r>
              <a:rPr lang="en-US" sz="1600">
                <a:solidFill>
                  <a:srgbClr val="980000"/>
                </a:solidFill>
              </a:rPr>
              <a:t> aggravation des symptômes</a:t>
            </a:r>
            <a:endParaRPr sz="16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1116475" y="403300"/>
            <a:ext cx="8223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025"/>
              <a:buFont typeface="Inter SemiBold"/>
              <a:buNone/>
            </a:pPr>
            <a:r>
              <a:rPr lang="en-US" sz="2125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 classificateur EEG intelligent pour diagnostiquer plus vite</a:t>
            </a:r>
            <a:endParaRPr i="1" sz="2125"/>
          </a:p>
        </p:txBody>
      </p:sp>
      <p:pic>
        <p:nvPicPr>
          <p:cNvPr descr="Google Shape;75;p15"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4866675" y="1935625"/>
            <a:ext cx="4044000" cy="19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F1F1F"/>
                </a:solidFill>
              </a:rPr>
              <a:t>Objectifs:</a:t>
            </a:r>
            <a:endParaRPr b="1" sz="1600">
              <a:solidFill>
                <a:srgbClr val="1F1F1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➔"/>
            </a:pPr>
            <a:r>
              <a:rPr lang="en-US" sz="1600">
                <a:solidFill>
                  <a:srgbClr val="1F1F1F"/>
                </a:solidFill>
              </a:rPr>
              <a:t>Réduire les délais ⏱️ 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➔"/>
            </a:pPr>
            <a:r>
              <a:rPr lang="en-US" sz="1600">
                <a:solidFill>
                  <a:srgbClr val="1F1F1F"/>
                </a:solidFill>
              </a:rPr>
              <a:t>Alléger la charge des neurologues 🧑‍⚕️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➔"/>
            </a:pPr>
            <a:r>
              <a:rPr lang="en-US" sz="1600">
                <a:solidFill>
                  <a:srgbClr val="1F1F1F"/>
                </a:solidFill>
              </a:rPr>
              <a:t>Faciliter l’accès au diagnostic </a:t>
            </a:r>
            <a:r>
              <a:rPr lang="en-US" sz="1600">
                <a:solidFill>
                  <a:srgbClr val="1F1F1F"/>
                </a:solidFill>
              </a:rPr>
              <a:t>🌍 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9" name="Google Shape;99;p16" title="Screen Shot 2025-04-11 at 1.04.16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525" y="1379750"/>
            <a:ext cx="4455750" cy="289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643845" y="4848444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0" y="489209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1107514" y="35148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Démonstration</a:t>
            </a:r>
            <a:endParaRPr/>
          </a:p>
        </p:txBody>
      </p:sp>
      <p:pic>
        <p:nvPicPr>
          <p:cNvPr descr="Google Shape;75;p15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3390450" y="2206450"/>
            <a:ext cx="23631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85858"/>
              </a:solidFill>
            </a:endParaRPr>
          </a:p>
        </p:txBody>
      </p:sp>
      <p:pic>
        <p:nvPicPr>
          <p:cNvPr id="111" name="Google Shape;111;p17" title="838859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0" y="1682675"/>
            <a:ext cx="2048725" cy="20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643845" y="4848444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0" y="489209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/>
          <p:nvPr>
            <p:ph type="title"/>
          </p:nvPr>
        </p:nvSpPr>
        <p:spPr>
          <a:xfrm>
            <a:off x="1107514" y="35148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Méthodes: </a:t>
            </a:r>
            <a:r>
              <a:rPr i="1"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Preprocessing</a:t>
            </a:r>
            <a:endParaRPr i="1"/>
          </a:p>
        </p:txBody>
      </p:sp>
      <p:pic>
        <p:nvPicPr>
          <p:cNvPr descr="Google Shape;75;p15"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484350" y="1134875"/>
            <a:ext cx="4526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</a:rPr>
              <a:t>Dataset avec deux labels par patient: epilepsy vs no epilepsy;</a:t>
            </a:r>
            <a:br>
              <a:rPr lang="en-US">
                <a:solidFill>
                  <a:srgbClr val="1F1F1F"/>
                </a:solidFill>
              </a:rPr>
            </a:b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</a:rPr>
              <a:t>Fichiers .edf (European Data format) et librairie MNE;</a:t>
            </a:r>
            <a:endParaRPr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</a:rPr>
              <a:t>Filtre passe-bande (0.5-45Hz) appliqué sur chaque channel.</a:t>
            </a:r>
            <a:endParaRPr>
              <a:solidFill>
                <a:srgbClr val="1F1F1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B52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Découpage de chaque enregistrement en segment temporel.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</a:rPr>
              <a:t>Standardisation de chaque segment EEG.</a:t>
            </a:r>
            <a:endParaRPr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 Medium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 Medium"/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4866600" y="1170800"/>
            <a:ext cx="2078100" cy="669000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Acquisition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889200" y="1170800"/>
            <a:ext cx="2234700" cy="6690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EEG Signals Preprocessing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18" title="Screen Shot 2025-04-10 at 12.25.1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6363" y="2049325"/>
            <a:ext cx="1876563" cy="20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4824125" y="4199938"/>
            <a:ext cx="2546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Dataset: TUH EEG Epilepsy 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27" name="Google Shape;127;p18" title="Screen Shot 2025-04-10 at 11.38.24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6800" y="2051595"/>
            <a:ext cx="2234588" cy="20734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 rot="-460397">
            <a:off x="164047" y="15522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 rot="-460397">
            <a:off x="164047" y="20856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 rot="-460397">
            <a:off x="164047" y="25428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 rot="-460397">
            <a:off x="164047" y="31524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 rot="-460397">
            <a:off x="164047" y="37620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9" title="Votre texte de paragrap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0226"/>
            <a:ext cx="9144003" cy="25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404650" y="3913400"/>
            <a:ext cx="3779400" cy="9750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B5258"/>
                </a:solidFill>
              </a:rPr>
              <a:t>4 Modèles Deep Learning </a:t>
            </a:r>
            <a:endParaRPr sz="1400">
              <a:solidFill>
                <a:srgbClr val="4B52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B5258"/>
                </a:solidFill>
              </a:rPr>
              <a:t>Preprocessing  supplémentaire</a:t>
            </a:r>
            <a:endParaRPr sz="1400">
              <a:solidFill>
                <a:srgbClr val="4B52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B5258"/>
                </a:solidFill>
              </a:rPr>
              <a:t>M</a:t>
            </a:r>
            <a:r>
              <a:rPr lang="en-US" sz="1400">
                <a:solidFill>
                  <a:srgbClr val="4B5258"/>
                </a:solidFill>
              </a:rPr>
              <a:t>ême objectif → classification binaire</a:t>
            </a:r>
            <a:endParaRPr sz="1400">
              <a:solidFill>
                <a:srgbClr val="4B5258"/>
              </a:solidFill>
            </a:endParaRPr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684345" y="47008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9" title="Capture d’écran 2025-04-10 à 16.41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038" y="3154708"/>
            <a:ext cx="2028404" cy="74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title="outpu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188" y="391688"/>
            <a:ext cx="836658" cy="873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9"/>
          <p:cNvCxnSpPr>
            <a:endCxn id="144" idx="0"/>
          </p:cNvCxnSpPr>
          <p:nvPr/>
        </p:nvCxnSpPr>
        <p:spPr>
          <a:xfrm>
            <a:off x="5505650" y="2542444"/>
            <a:ext cx="14100" cy="12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9"/>
          <p:cNvCxnSpPr>
            <a:endCxn id="141" idx="0"/>
          </p:cNvCxnSpPr>
          <p:nvPr/>
        </p:nvCxnSpPr>
        <p:spPr>
          <a:xfrm flipH="1">
            <a:off x="2503240" y="2570908"/>
            <a:ext cx="1272900" cy="58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4" name="Google Shape;144;p19" title="Capture d’écran 2025-04-10 à 17.21.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4998" y="3768844"/>
            <a:ext cx="1769503" cy="9750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title"/>
          </p:nvPr>
        </p:nvSpPr>
        <p:spPr>
          <a:xfrm>
            <a:off x="1107514" y="35148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Méthodes: </a:t>
            </a:r>
            <a:r>
              <a:rPr i="1"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Classification Pipeline</a:t>
            </a:r>
            <a:endParaRPr i="1"/>
          </a:p>
        </p:txBody>
      </p:sp>
      <p:pic>
        <p:nvPicPr>
          <p:cNvPr descr="Google Shape;75;p15" id="147" name="Google Shape;14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9"/>
          <p:cNvCxnSpPr/>
          <p:nvPr/>
        </p:nvCxnSpPr>
        <p:spPr>
          <a:xfrm flipH="1" rot="10800000">
            <a:off x="5526788" y="614900"/>
            <a:ext cx="1305900" cy="64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9"/>
          <p:cNvSpPr/>
          <p:nvPr/>
        </p:nvSpPr>
        <p:spPr>
          <a:xfrm rot="-460397">
            <a:off x="164047" y="41430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 rot="-460397">
            <a:off x="164047" y="43716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 rot="-460397">
            <a:off x="164047" y="46002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643845" y="4848444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0" y="489209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1107514" y="42768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Résultats</a:t>
            </a:r>
            <a:endParaRPr/>
          </a:p>
        </p:txBody>
      </p:sp>
      <p:pic>
        <p:nvPicPr>
          <p:cNvPr descr="Google Shape;75;p15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1" name="Google Shape;161;p20"/>
          <p:cNvGraphicFramePr/>
          <p:nvPr/>
        </p:nvGraphicFramePr>
        <p:xfrm>
          <a:off x="566700" y="132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{DE002F3F-0F11-4EF5-BBF9-01E0E7E1CFE2}</a:tableStyleId>
              </a:tblPr>
              <a:tblGrid>
                <a:gridCol w="1208800"/>
                <a:gridCol w="942175"/>
                <a:gridCol w="1106650"/>
                <a:gridCol w="1176100"/>
                <a:gridCol w="1085375"/>
              </a:tblGrid>
              <a:tr h="59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u="sng"/>
                        <a:t>EEGNet</a:t>
                      </a:r>
                      <a:endParaRPr i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u="sng">
                          <a:solidFill>
                            <a:schemeClr val="dk1"/>
                          </a:solidFill>
                        </a:rPr>
                        <a:t>ChronoNet</a:t>
                      </a:r>
                      <a:endParaRPr i="1" u="sng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u="sng"/>
                        <a:t>EpilepsyNet</a:t>
                      </a:r>
                      <a:endParaRPr i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u="sng"/>
                        <a:t>SpectroNet</a:t>
                      </a:r>
                      <a:endParaRPr i="1" u="sng"/>
                    </a:p>
                  </a:txBody>
                  <a:tcPr marT="91425" marB="91425" marR="91425" marL="91425"/>
                </a:tc>
              </a:tr>
              <a:tr h="5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200">
                          <a:solidFill>
                            <a:schemeClr val="dk1"/>
                          </a:solidFill>
                        </a:rPr>
                        <a:t>Sensitivity (Recall)</a:t>
                      </a:r>
                      <a:endParaRPr i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0.69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0.82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6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200">
                          <a:solidFill>
                            <a:schemeClr val="dk1"/>
                          </a:solidFill>
                        </a:rPr>
                        <a:t>Specificity</a:t>
                      </a:r>
                      <a:endParaRPr i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0.88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0.64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6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200">
                          <a:solidFill>
                            <a:schemeClr val="dk1"/>
                          </a:solidFill>
                        </a:rPr>
                        <a:t>F1-Score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0.72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0.82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0.83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6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2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0.83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0.63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0.76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" name="Google Shape;162;p20"/>
          <p:cNvSpPr txBox="1"/>
          <p:nvPr/>
        </p:nvSpPr>
        <p:spPr>
          <a:xfrm>
            <a:off x="810600" y="4226375"/>
            <a:ext cx="50313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1F1F1F"/>
                </a:solidFill>
              </a:rPr>
              <a:t>Tableau comparatifs de nos différents modèles </a:t>
            </a:r>
            <a:r>
              <a:rPr lang="en-US" sz="1800">
                <a:solidFill>
                  <a:srgbClr val="585858"/>
                </a:solidFill>
              </a:rPr>
              <a:t> </a:t>
            </a:r>
            <a:endParaRPr sz="1800">
              <a:solidFill>
                <a:srgbClr val="585858"/>
              </a:solidFill>
            </a:endParaRPr>
          </a:p>
        </p:txBody>
      </p:sp>
      <p:pic>
        <p:nvPicPr>
          <p:cNvPr id="163" name="Google Shape;163;p20" title="Capture d’écran 2025-04-10 à 15.20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275" y="50300"/>
            <a:ext cx="1896125" cy="237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title="Capture d’écran 2025-04-10 à 15.22.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7061" y="2474048"/>
            <a:ext cx="2485789" cy="88203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1021500" y="1323100"/>
            <a:ext cx="876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Modèles</a:t>
            </a:r>
            <a:endParaRPr b="1" sz="1200"/>
          </a:p>
        </p:txBody>
      </p:sp>
      <p:sp>
        <p:nvSpPr>
          <p:cNvPr id="166" name="Google Shape;166;p20"/>
          <p:cNvSpPr txBox="1"/>
          <p:nvPr/>
        </p:nvSpPr>
        <p:spPr>
          <a:xfrm>
            <a:off x="533225" y="1594500"/>
            <a:ext cx="1069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Métriques</a:t>
            </a:r>
            <a:endParaRPr b="1" sz="1200"/>
          </a:p>
        </p:txBody>
      </p:sp>
      <p:cxnSp>
        <p:nvCxnSpPr>
          <p:cNvPr id="167" name="Google Shape;167;p20"/>
          <p:cNvCxnSpPr/>
          <p:nvPr/>
        </p:nvCxnSpPr>
        <p:spPr>
          <a:xfrm>
            <a:off x="577100" y="1327900"/>
            <a:ext cx="1215900" cy="6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-55637" y="-17775"/>
            <a:ext cx="32619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 automatique et performante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Testée sur données réelles</a:t>
            </a:r>
            <a:b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 solide pour aller plus loin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1"/>
          <p:cNvSpPr txBox="1"/>
          <p:nvPr>
            <p:ph type="title"/>
          </p:nvPr>
        </p:nvSpPr>
        <p:spPr>
          <a:xfrm>
            <a:off x="1035975" y="417901"/>
            <a:ext cx="2513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955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1"/>
          </a:p>
        </p:txBody>
      </p:sp>
      <p:pic>
        <p:nvPicPr>
          <p:cNvPr descr="Google Shape;83;p16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9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3920188" y="2104808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"/>
              <a:buNone/>
            </a:pPr>
            <a:r>
              <a:rPr lang="en-US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Détection des crises, autres pathologies</a:t>
            </a:r>
            <a:endParaRPr sz="1500">
              <a:solidFill>
                <a:srgbClr val="1F1F1F"/>
              </a:solidFill>
            </a:endParaRPr>
          </a:p>
        </p:txBody>
      </p:sp>
      <p:sp>
        <p:nvSpPr>
          <p:cNvPr id="176" name="Google Shape;176;p21"/>
          <p:cNvSpPr/>
          <p:nvPr/>
        </p:nvSpPr>
        <p:spPr>
          <a:xfrm rot="-355994">
            <a:off x="3506445" y="1865963"/>
            <a:ext cx="261199" cy="46747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3920188" y="252488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"/>
              <a:buNone/>
            </a:pPr>
            <a:r>
              <a:rPr lang="en-US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Enrichissement des modèles (données, approches ensemblistes) </a:t>
            </a:r>
            <a:endParaRPr sz="1500">
              <a:solidFill>
                <a:srgbClr val="1F1F1F"/>
              </a:solidFill>
            </a:endParaRPr>
          </a:p>
        </p:txBody>
      </p:sp>
      <p:sp>
        <p:nvSpPr>
          <p:cNvPr id="178" name="Google Shape;178;p21"/>
          <p:cNvSpPr/>
          <p:nvPr/>
        </p:nvSpPr>
        <p:spPr>
          <a:xfrm rot="-355994">
            <a:off x="3506445" y="2856263"/>
            <a:ext cx="261199" cy="46747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3930488" y="160405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2000"/>
              <a:buFont typeface="Inter"/>
              <a:buNone/>
            </a:pPr>
            <a:r>
              <a:rPr lang="en-US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Intégration des médecins dans la pipeline</a:t>
            </a:r>
            <a:endParaRPr sz="1500">
              <a:solidFill>
                <a:srgbClr val="1F1F1F"/>
              </a:solidFill>
            </a:endParaRPr>
          </a:p>
        </p:txBody>
      </p:sp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8684345" y="47008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3920188" y="3162208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258"/>
              </a:buClr>
              <a:buSzPts val="1850"/>
              <a:buFont typeface="Inter"/>
              <a:buNone/>
            </a:pPr>
            <a:r>
              <a:rPr lang="en-US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Conformité avec lois de confidentialité (RGPD/HDS)</a:t>
            </a:r>
            <a:endParaRPr sz="1500">
              <a:solidFill>
                <a:srgbClr val="1F1F1F"/>
              </a:solidFill>
            </a:endParaRPr>
          </a:p>
        </p:txBody>
      </p:sp>
      <p:sp>
        <p:nvSpPr>
          <p:cNvPr id="182" name="Google Shape;182;p21"/>
          <p:cNvSpPr/>
          <p:nvPr/>
        </p:nvSpPr>
        <p:spPr>
          <a:xfrm rot="-355994">
            <a:off x="3506445" y="2347988"/>
            <a:ext cx="261199" cy="46747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 rot="-355994">
            <a:off x="3506445" y="3338288"/>
            <a:ext cx="261199" cy="46747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 txBox="1"/>
          <p:nvPr>
            <p:ph type="title"/>
          </p:nvPr>
        </p:nvSpPr>
        <p:spPr>
          <a:xfrm>
            <a:off x="3797398" y="454650"/>
            <a:ext cx="44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025"/>
              <a:buFont typeface="Inter SemiBold"/>
              <a:buNone/>
            </a:pPr>
            <a:r>
              <a:rPr b="1" i="1" lang="en-US" sz="225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Perspectives d’amélioration</a:t>
            </a:r>
            <a:endParaRPr b="1" i="1" sz="2250">
              <a:solidFill>
                <a:srgbClr val="1F1F1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-4350" y="3603800"/>
            <a:ext cx="933900" cy="145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 title="Screen Shot 2025-04-10 at 4.40.1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85" y="4083306"/>
            <a:ext cx="774469" cy="3390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-147400" y="3660078"/>
            <a:ext cx="1219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Preprocessing</a:t>
            </a:r>
            <a:endParaRPr b="1" sz="1000">
              <a:solidFill>
                <a:schemeClr val="dk1"/>
              </a:solidFill>
            </a:endParaRPr>
          </a:p>
        </p:txBody>
      </p:sp>
      <p:grpSp>
        <p:nvGrpSpPr>
          <p:cNvPr id="188" name="Google Shape;188;p21"/>
          <p:cNvGrpSpPr/>
          <p:nvPr/>
        </p:nvGrpSpPr>
        <p:grpSpPr>
          <a:xfrm>
            <a:off x="2015655" y="4325140"/>
            <a:ext cx="1489043" cy="721502"/>
            <a:chOff x="988696" y="4017058"/>
            <a:chExt cx="1563300" cy="638554"/>
          </a:xfrm>
        </p:grpSpPr>
        <p:sp>
          <p:nvSpPr>
            <p:cNvPr id="189" name="Google Shape;189;p21"/>
            <p:cNvSpPr/>
            <p:nvPr/>
          </p:nvSpPr>
          <p:spPr>
            <a:xfrm>
              <a:off x="1350599" y="4061912"/>
              <a:ext cx="774600" cy="593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0" name="Google Shape;190;p21" title="Screen Shot 2025-04-10 at 3.46.56 PM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55525" y="4292463"/>
              <a:ext cx="505126" cy="26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1"/>
            <p:cNvSpPr txBox="1"/>
            <p:nvPr/>
          </p:nvSpPr>
          <p:spPr>
            <a:xfrm>
              <a:off x="988696" y="4017058"/>
              <a:ext cx="1563300" cy="3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</a:rPr>
                <a:t>Web App </a:t>
              </a:r>
              <a:endParaRPr b="1" sz="1000">
                <a:solidFill>
                  <a:schemeClr val="dk1"/>
                </a:solidFill>
              </a:endParaRPr>
            </a:p>
          </p:txBody>
        </p:sp>
      </p:grpSp>
      <p:grpSp>
        <p:nvGrpSpPr>
          <p:cNvPr id="192" name="Google Shape;192;p21"/>
          <p:cNvGrpSpPr/>
          <p:nvPr/>
        </p:nvGrpSpPr>
        <p:grpSpPr>
          <a:xfrm>
            <a:off x="973761" y="4378050"/>
            <a:ext cx="1390391" cy="661800"/>
            <a:chOff x="788364" y="4067773"/>
            <a:chExt cx="1748700" cy="661800"/>
          </a:xfrm>
        </p:grpSpPr>
        <p:sp>
          <p:nvSpPr>
            <p:cNvPr id="193" name="Google Shape;193;p21"/>
            <p:cNvSpPr/>
            <p:nvPr/>
          </p:nvSpPr>
          <p:spPr>
            <a:xfrm>
              <a:off x="793561" y="4067773"/>
              <a:ext cx="1667100" cy="66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4" name="Google Shape;194;p21" title="Screen Shot 2025-04-10 at 3.49.53 PM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37294" y="4386325"/>
              <a:ext cx="569774" cy="2518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1"/>
            <p:cNvSpPr txBox="1"/>
            <p:nvPr/>
          </p:nvSpPr>
          <p:spPr>
            <a:xfrm>
              <a:off x="788364" y="4071050"/>
              <a:ext cx="1748700" cy="3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</a:rPr>
                <a:t>AI-Report </a:t>
              </a:r>
              <a:endParaRPr b="1" sz="1000">
                <a:solidFill>
                  <a:schemeClr val="dk1"/>
                </a:solidFill>
              </a:endParaRPr>
            </a:p>
          </p:txBody>
        </p:sp>
        <p:pic>
          <p:nvPicPr>
            <p:cNvPr id="196" name="Google Shape;196;p21" title="Screen Shot 2025-04-11 at 12.10.44 AM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07825" y="4405088"/>
              <a:ext cx="952825" cy="197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7" name="Google Shape;197;p21" title="Visual_Studio_Code_1.35_icon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0180" y="4532846"/>
            <a:ext cx="358491" cy="3404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21"/>
          <p:cNvGrpSpPr/>
          <p:nvPr/>
        </p:nvGrpSpPr>
        <p:grpSpPr>
          <a:xfrm>
            <a:off x="2039850" y="3612229"/>
            <a:ext cx="1390468" cy="733656"/>
            <a:chOff x="131133" y="2867271"/>
            <a:chExt cx="1842900" cy="1024946"/>
          </a:xfrm>
        </p:grpSpPr>
        <p:sp>
          <p:nvSpPr>
            <p:cNvPr id="199" name="Google Shape;199;p21"/>
            <p:cNvSpPr/>
            <p:nvPr/>
          </p:nvSpPr>
          <p:spPr>
            <a:xfrm>
              <a:off x="503237" y="2876417"/>
              <a:ext cx="1068600" cy="1015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0" name="Google Shape;200;p21" title="Screen Shot 2025-04-10 at 3.48.46 PM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98823" y="3218972"/>
              <a:ext cx="362043" cy="266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1"/>
            <p:cNvSpPr txBox="1"/>
            <p:nvPr/>
          </p:nvSpPr>
          <p:spPr>
            <a:xfrm>
              <a:off x="131133" y="2867271"/>
              <a:ext cx="18429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</a:rPr>
                <a:t>Deployment</a:t>
              </a:r>
              <a:endParaRPr b="1" sz="1000">
                <a:solidFill>
                  <a:schemeClr val="dk1"/>
                </a:solidFill>
              </a:endParaRPr>
            </a:p>
          </p:txBody>
        </p:sp>
        <p:pic>
          <p:nvPicPr>
            <p:cNvPr id="202" name="Google Shape;202;p21" title="Screen Shot 2025-04-10 at 3.47.36 PM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36242" y="3573797"/>
              <a:ext cx="769371" cy="220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1" title="67cb2328a0f5afcb01adc404_66bbf2250478cce84c3c3760_66bbf21b7f0ee244a1589b75_c3635b59-a3d2-444a-b636-a9d0061dcdde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35234" y="3157437"/>
              <a:ext cx="511283" cy="453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21"/>
          <p:cNvGrpSpPr/>
          <p:nvPr/>
        </p:nvGrpSpPr>
        <p:grpSpPr>
          <a:xfrm>
            <a:off x="843862" y="3603800"/>
            <a:ext cx="1631718" cy="721500"/>
            <a:chOff x="698763" y="3169795"/>
            <a:chExt cx="2094900" cy="721500"/>
          </a:xfrm>
        </p:grpSpPr>
        <p:sp>
          <p:nvSpPr>
            <p:cNvPr id="205" name="Google Shape;205;p21"/>
            <p:cNvSpPr/>
            <p:nvPr/>
          </p:nvSpPr>
          <p:spPr>
            <a:xfrm>
              <a:off x="870510" y="3169795"/>
              <a:ext cx="1667100" cy="721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6" name="Google Shape;206;p21" title="Screen Shot 2025-04-10 at 3.45.46 PM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811743" y="3542025"/>
              <a:ext cx="505761" cy="24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 txBox="1"/>
            <p:nvPr/>
          </p:nvSpPr>
          <p:spPr>
            <a:xfrm>
              <a:off x="698763" y="3169795"/>
              <a:ext cx="2094900" cy="3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</a:rPr>
                <a:t>ML Pipeline Tracking</a:t>
              </a:r>
              <a:endParaRPr b="1" sz="1000">
                <a:solidFill>
                  <a:schemeClr val="dk1"/>
                </a:solidFill>
              </a:endParaRPr>
            </a:p>
          </p:txBody>
        </p:sp>
        <p:pic>
          <p:nvPicPr>
            <p:cNvPr id="208" name="Google Shape;208;p21" title="pytorch-logo-700x700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388184" y="3448964"/>
              <a:ext cx="447692" cy="39732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9" name="Google Shape;209;p21" title="Tensorflow_logo.svg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40447" y="3892530"/>
            <a:ext cx="334525" cy="40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1235599" y="1742168"/>
            <a:ext cx="5315101" cy="6984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ct val="100000"/>
              <a:buFont typeface="Inter"/>
              <a:buNone/>
            </a:pPr>
            <a:r>
              <a:rPr b="1" lang="en-US" sz="3303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de votre attention </a:t>
            </a:r>
            <a:r>
              <a:rPr b="1" lang="en-US" sz="3303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! </a:t>
            </a:r>
            <a:endParaRPr/>
          </a:p>
        </p:txBody>
      </p:sp>
      <p:pic>
        <p:nvPicPr>
          <p:cNvPr descr="Google Shape;111;p19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300" cy="21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1274763" y="2606043"/>
            <a:ext cx="5315101" cy="6984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4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See you </a:t>
            </a:r>
            <a:r>
              <a:rPr lang="en-US" sz="240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soon!</a:t>
            </a:r>
            <a:endParaRPr/>
          </a:p>
        </p:txBody>
      </p:sp>
      <p:pic>
        <p:nvPicPr>
          <p:cNvPr descr="Google Shape;113;p19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>
            <p:ph idx="12" type="sldNum"/>
          </p:nvPr>
        </p:nvSpPr>
        <p:spPr>
          <a:xfrm>
            <a:off x="8684345" y="47008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1192664" y="403308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Processus </a:t>
            </a: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Global</a:t>
            </a:r>
            <a:endParaRPr/>
          </a:p>
        </p:txBody>
      </p:sp>
      <p:pic>
        <p:nvPicPr>
          <p:cNvPr descr="Google Shape;75;p15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4368925" y="1189775"/>
            <a:ext cx="2334300" cy="6690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Features or time series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0" y="1190000"/>
            <a:ext cx="2157900" cy="669000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Acquisition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2029948" y="1189775"/>
            <a:ext cx="2334300" cy="6690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EEG Signals Preprocessing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755525" y="1189775"/>
            <a:ext cx="2253900" cy="6690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Classification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1" name="Google Shape;231;p23" title="Screen Shot 2025-04-10 at 12.25.1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50" y="1967600"/>
            <a:ext cx="1967707" cy="217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0" y="4257113"/>
            <a:ext cx="2546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rgbClr val="F7F7F7"/>
                </a:highlight>
              </a:rPr>
              <a:t>Dataset: </a:t>
            </a:r>
            <a:r>
              <a:rPr b="1" lang="en-US" sz="1200">
                <a:solidFill>
                  <a:schemeClr val="dk1"/>
                </a:solidFill>
                <a:highlight>
                  <a:srgbClr val="F7F7F7"/>
                </a:highlight>
              </a:rPr>
              <a:t>TUH EEG Epilepsy 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33" name="Google Shape;233;p23" title="Screen Shot 2025-04-10 at 11.38.24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050" y="1967600"/>
            <a:ext cx="2334300" cy="236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4773225" y="1920013"/>
            <a:ext cx="1415100" cy="15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🔊</a:t>
            </a:r>
            <a:r>
              <a:rPr lang="en-US" sz="2200">
                <a:solidFill>
                  <a:schemeClr val="dk1"/>
                </a:solidFill>
              </a:rPr>
              <a:t> </a:t>
            </a:r>
            <a:r>
              <a:rPr b="1" lang="en-US" sz="800">
                <a:solidFill>
                  <a:schemeClr val="dk1"/>
                </a:solidFill>
              </a:rPr>
              <a:t>Freq.</a:t>
            </a:r>
            <a:r>
              <a:rPr lang="en-US" sz="800">
                <a:solidFill>
                  <a:schemeClr val="dk1"/>
                </a:solidFill>
              </a:rPr>
              <a:t>: Band Power</a:t>
            </a:r>
            <a:br>
              <a:rPr lang="en-US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⏱️ </a:t>
            </a:r>
            <a:r>
              <a:rPr b="1" lang="en-US" sz="800">
                <a:solidFill>
                  <a:schemeClr val="dk1"/>
                </a:solidFill>
              </a:rPr>
              <a:t>Time</a:t>
            </a:r>
            <a:r>
              <a:rPr lang="en-US" sz="800">
                <a:solidFill>
                  <a:schemeClr val="dk1"/>
                </a:solidFill>
              </a:rPr>
              <a:t>: Stats</a:t>
            </a:r>
            <a:br>
              <a:rPr lang="en-US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🌊</a:t>
            </a:r>
            <a:r>
              <a:rPr lang="en-US" sz="800">
                <a:solidFill>
                  <a:schemeClr val="dk1"/>
                </a:solidFill>
              </a:rPr>
              <a:t> </a:t>
            </a:r>
            <a:r>
              <a:rPr b="1" lang="en-US" sz="800">
                <a:solidFill>
                  <a:schemeClr val="dk1"/>
                </a:solidFill>
              </a:rPr>
              <a:t>DWT</a:t>
            </a:r>
            <a:r>
              <a:rPr lang="en-US" sz="800">
                <a:solidFill>
                  <a:schemeClr val="dk1"/>
                </a:solidFill>
              </a:rPr>
              <a:t>: Wavelets</a:t>
            </a:r>
            <a:br>
              <a:rPr lang="en-US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🎯 </a:t>
            </a:r>
            <a:r>
              <a:rPr b="1" lang="en-US" sz="800">
                <a:solidFill>
                  <a:schemeClr val="dk1"/>
                </a:solidFill>
              </a:rPr>
              <a:t>Selection</a:t>
            </a:r>
            <a:r>
              <a:rPr lang="en-US" sz="800">
                <a:solidFill>
                  <a:schemeClr val="dk1"/>
                </a:solidFill>
              </a:rPr>
              <a:t>: PCA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85858"/>
              </a:solidFill>
            </a:endParaRPr>
          </a:p>
        </p:txBody>
      </p:sp>
      <p:pic>
        <p:nvPicPr>
          <p:cNvPr id="235" name="Google Shape;235;p23" title="Screen Shot 2025-04-10 at 12.55.31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7300" y="1990613"/>
            <a:ext cx="2546701" cy="231686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025675" y="1858775"/>
            <a:ext cx="910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ML classic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4953475" y="3513050"/>
            <a:ext cx="1165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Deep Learning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38" name="Google Shape;238;p23" title="Screen Shot 2025-04-10 at 3.30.06 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96733" y="3808875"/>
            <a:ext cx="2100579" cy="10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1192664" y="403308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AI-generated EEG Reports </a:t>
            </a:r>
            <a:endParaRPr/>
          </a:p>
        </p:txBody>
      </p:sp>
      <p:pic>
        <p:nvPicPr>
          <p:cNvPr descr="Google Shape;75;p15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4"/>
          <p:cNvSpPr txBox="1"/>
          <p:nvPr>
            <p:ph idx="12" type="sldNum"/>
          </p:nvPr>
        </p:nvSpPr>
        <p:spPr>
          <a:xfrm>
            <a:off x="88367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7" name="Google Shape;247;p24"/>
          <p:cNvPicPr preferRelativeResize="0"/>
          <p:nvPr/>
        </p:nvPicPr>
        <p:blipFill rotWithShape="1">
          <a:blip r:embed="rId4">
            <a:alphaModFix/>
          </a:blip>
          <a:srcRect b="-1409" l="0" r="-1440" t="0"/>
          <a:stretch/>
        </p:blipFill>
        <p:spPr>
          <a:xfrm>
            <a:off x="1523375" y="936400"/>
            <a:ext cx="5867551" cy="391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type="title"/>
          </p:nvPr>
        </p:nvSpPr>
        <p:spPr>
          <a:xfrm>
            <a:off x="1192666" y="409250"/>
            <a:ext cx="6896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Distribution des patients et EEGs</a:t>
            </a:r>
            <a:endParaRPr sz="2250"/>
          </a:p>
        </p:txBody>
      </p:sp>
      <p:pic>
        <p:nvPicPr>
          <p:cNvPr descr="Google Shape;75;p15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6" name="Google Shape;256;p25" title="patientsbycla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1554273"/>
            <a:ext cx="2733454" cy="2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 title="sessionsbyclas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8200" y="1539700"/>
            <a:ext cx="2671800" cy="26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220550" y="4083250"/>
            <a:ext cx="38478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</a:rPr>
              <a:t>On obtient un dataset à peu près équilibré</a:t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259" name="Google Shape;259;p25" title="eegdur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4800" y="1076888"/>
            <a:ext cx="2812875" cy="33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>
            <p:ph type="title"/>
          </p:nvPr>
        </p:nvSpPr>
        <p:spPr>
          <a:xfrm>
            <a:off x="368847" y="1030025"/>
            <a:ext cx="45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1400">
                <a:solidFill>
                  <a:srgbClr val="0E3449"/>
                </a:solidFill>
              </a:rPr>
              <a:t>Dataset: TUH EEG Epilepsy Corpus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type="title"/>
          </p:nvPr>
        </p:nvSpPr>
        <p:spPr>
          <a:xfrm>
            <a:off x="1192664" y="403308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Sélection</a:t>
            </a: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canaux pertinents</a:t>
            </a:r>
            <a:endParaRPr/>
          </a:p>
        </p:txBody>
      </p:sp>
      <p:pic>
        <p:nvPicPr>
          <p:cNvPr descr="Google Shape;75;p15"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/>
          <p:nvPr>
            <p:ph idx="12" type="sldNum"/>
          </p:nvPr>
        </p:nvSpPr>
        <p:spPr>
          <a:xfrm>
            <a:off x="86843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p26" title="Screen Shot 2025-04-10 at 12.03.3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925" y="135725"/>
            <a:ext cx="2240425" cy="193067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7338900" y="2066400"/>
            <a:ext cx="180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Tests statistiques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71" name="Google Shape;271;p26" title="Screen Shot 2025-04-10 at 12.04.54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0650" y="2605672"/>
            <a:ext cx="2667376" cy="22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/>
          <p:nvPr/>
        </p:nvSpPr>
        <p:spPr>
          <a:xfrm>
            <a:off x="7179175" y="2103525"/>
            <a:ext cx="135600" cy="338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6" title="outpu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75" y="1522250"/>
            <a:ext cx="5254525" cy="260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1192664" y="403308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250"/>
              <a:buFont typeface="Inter SemiBold"/>
              <a:buNone/>
            </a:pPr>
            <a:r>
              <a:rPr lang="en-US" sz="225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Challenges rencontrés</a:t>
            </a:r>
            <a:endParaRPr/>
          </a:p>
        </p:txBody>
      </p:sp>
      <p:pic>
        <p:nvPicPr>
          <p:cNvPr descr="Google Shape;75;p15"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1" cy="38590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/>
          <p:nvPr/>
        </p:nvSpPr>
        <p:spPr>
          <a:xfrm>
            <a:off x="0" y="4900841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7"/>
          <p:cNvSpPr txBox="1"/>
          <p:nvPr>
            <p:ph idx="12" type="sldNum"/>
          </p:nvPr>
        </p:nvSpPr>
        <p:spPr>
          <a:xfrm>
            <a:off x="8836745" y="4853219"/>
            <a:ext cx="336900" cy="3387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27"/>
          <p:cNvSpPr/>
          <p:nvPr/>
        </p:nvSpPr>
        <p:spPr>
          <a:xfrm rot="-460397">
            <a:off x="621247" y="167804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901500" y="1995975"/>
            <a:ext cx="6329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Complexité des données EEG (montages, channels, etc)  </a:t>
            </a:r>
            <a:endParaRPr sz="1600"/>
          </a:p>
        </p:txBody>
      </p:sp>
      <p:sp>
        <p:nvSpPr>
          <p:cNvPr id="284" name="Google Shape;284;p27"/>
          <p:cNvSpPr/>
          <p:nvPr/>
        </p:nvSpPr>
        <p:spPr>
          <a:xfrm rot="-460397">
            <a:off x="621247" y="2201768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901500" y="3586500"/>
            <a:ext cx="6329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Overfitting des modèles</a:t>
            </a:r>
            <a:endParaRPr sz="1600"/>
          </a:p>
        </p:txBody>
      </p:sp>
      <p:sp>
        <p:nvSpPr>
          <p:cNvPr id="286" name="Google Shape;286;p27"/>
          <p:cNvSpPr/>
          <p:nvPr/>
        </p:nvSpPr>
        <p:spPr>
          <a:xfrm rot="-460397">
            <a:off x="621247" y="37775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901500" y="3562125"/>
            <a:ext cx="6329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88" name="Google Shape;288;p27"/>
          <p:cNvSpPr txBox="1"/>
          <p:nvPr/>
        </p:nvSpPr>
        <p:spPr>
          <a:xfrm>
            <a:off x="905350" y="1461500"/>
            <a:ext cx="81132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Structure du dataset </a:t>
            </a:r>
            <a:r>
              <a:rPr lang="en-US" sz="1200">
                <a:solidFill>
                  <a:schemeClr val="dk1"/>
                </a:solidFill>
              </a:rPr>
              <a:t>(</a:t>
            </a:r>
            <a:r>
              <a:rPr b="1" lang="en-US" sz="1200">
                <a:solidFill>
                  <a:schemeClr val="dk1"/>
                </a:solidFill>
              </a:rPr>
              <a:t>Epilepsy status </a:t>
            </a:r>
            <a:r>
              <a:rPr lang="en-US" sz="1200">
                <a:solidFill>
                  <a:schemeClr val="dk1"/>
                </a:solidFill>
              </a:rPr>
              <a:t>→ </a:t>
            </a:r>
            <a:r>
              <a:rPr b="1" lang="en-US" sz="1200">
                <a:solidFill>
                  <a:schemeClr val="dk1"/>
                </a:solidFill>
              </a:rPr>
              <a:t> Subject ID</a:t>
            </a:r>
            <a:r>
              <a:rPr lang="en-US" sz="1200">
                <a:solidFill>
                  <a:schemeClr val="dk1"/>
                </a:solidFill>
              </a:rPr>
              <a:t> → </a:t>
            </a:r>
            <a:r>
              <a:rPr b="1" lang="en-US" sz="1200">
                <a:solidFill>
                  <a:schemeClr val="dk1"/>
                </a:solidFill>
              </a:rPr>
              <a:t>Session</a:t>
            </a:r>
            <a:r>
              <a:rPr lang="en-US" sz="1200">
                <a:solidFill>
                  <a:schemeClr val="dk1"/>
                </a:solidFill>
              </a:rPr>
              <a:t> → </a:t>
            </a:r>
            <a:r>
              <a:rPr b="1" lang="en-US" sz="1200">
                <a:solidFill>
                  <a:schemeClr val="dk1"/>
                </a:solidFill>
              </a:rPr>
              <a:t>Montage</a:t>
            </a:r>
            <a:r>
              <a:rPr lang="en-US" sz="1200">
                <a:solidFill>
                  <a:schemeClr val="dk1"/>
                </a:solidFill>
              </a:rPr>
              <a:t> → </a:t>
            </a:r>
            <a:r>
              <a:rPr b="1" lang="en-US" sz="1200">
                <a:solidFill>
                  <a:schemeClr val="dk1"/>
                </a:solidFill>
              </a:rPr>
              <a:t>enregistrement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EDF)</a:t>
            </a:r>
            <a:endParaRPr sz="1200"/>
          </a:p>
        </p:txBody>
      </p:sp>
      <p:sp>
        <p:nvSpPr>
          <p:cNvPr id="289" name="Google Shape;289;p27"/>
          <p:cNvSpPr txBox="1"/>
          <p:nvPr/>
        </p:nvSpPr>
        <p:spPr>
          <a:xfrm>
            <a:off x="901500" y="3053100"/>
            <a:ext cx="6329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Déséquilibre des sessions EEG par classe</a:t>
            </a:r>
            <a:endParaRPr sz="1600"/>
          </a:p>
        </p:txBody>
      </p:sp>
      <p:sp>
        <p:nvSpPr>
          <p:cNvPr id="290" name="Google Shape;290;p27"/>
          <p:cNvSpPr/>
          <p:nvPr/>
        </p:nvSpPr>
        <p:spPr>
          <a:xfrm rot="-460397">
            <a:off x="621247" y="3244193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901500" y="2529375"/>
            <a:ext cx="6329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Niveau de bruit dans les d</a:t>
            </a:r>
            <a:r>
              <a:rPr lang="en-US" sz="1600">
                <a:solidFill>
                  <a:schemeClr val="dk1"/>
                </a:solidFill>
              </a:rPr>
              <a:t>onnées </a:t>
            </a:r>
            <a:endParaRPr sz="1600"/>
          </a:p>
        </p:txBody>
      </p:sp>
      <p:sp>
        <p:nvSpPr>
          <p:cNvPr id="292" name="Google Shape;292;p27"/>
          <p:cNvSpPr/>
          <p:nvPr/>
        </p:nvSpPr>
        <p:spPr>
          <a:xfrm rot="-460397">
            <a:off x="621247" y="2735168"/>
            <a:ext cx="202211" cy="46639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